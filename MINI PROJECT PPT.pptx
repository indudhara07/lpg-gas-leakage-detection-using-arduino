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63" r:id="rId2"/>
    <p:sldId id="302" r:id="rId3"/>
    <p:sldId id="256" r:id="rId4"/>
    <p:sldId id="328" r:id="rId5"/>
    <p:sldId id="323" r:id="rId6"/>
    <p:sldId id="333" r:id="rId7"/>
    <p:sldId id="334" r:id="rId8"/>
    <p:sldId id="325" r:id="rId9"/>
    <p:sldId id="326" r:id="rId10"/>
    <p:sldId id="327" r:id="rId11"/>
    <p:sldId id="329" r:id="rId12"/>
    <p:sldId id="330" r:id="rId13"/>
    <p:sldId id="331" r:id="rId14"/>
    <p:sldId id="342" r:id="rId15"/>
    <p:sldId id="336" r:id="rId16"/>
    <p:sldId id="332" r:id="rId17"/>
    <p:sldId id="335" r:id="rId18"/>
    <p:sldId id="337" r:id="rId19"/>
    <p:sldId id="341" r:id="rId20"/>
    <p:sldId id="338" r:id="rId21"/>
    <p:sldId id="340" r:id="rId22"/>
    <p:sldId id="33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ED9AAA27-81A4-4C81-9F52-D4B6F49A8D2E}">
          <p14:sldIdLst>
            <p14:sldId id="263"/>
            <p14:sldId id="302"/>
            <p14:sldId id="256"/>
            <p14:sldId id="328"/>
            <p14:sldId id="323"/>
            <p14:sldId id="333"/>
            <p14:sldId id="334"/>
            <p14:sldId id="325"/>
            <p14:sldId id="326"/>
            <p14:sldId id="327"/>
            <p14:sldId id="329"/>
            <p14:sldId id="330"/>
            <p14:sldId id="331"/>
            <p14:sldId id="342"/>
            <p14:sldId id="336"/>
            <p14:sldId id="332"/>
            <p14:sldId id="335"/>
            <p14:sldId id="337"/>
            <p14:sldId id="341"/>
            <p14:sldId id="338"/>
            <p14:sldId id="340"/>
            <p14:sldId id="33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C3E6"/>
    <a:srgbClr val="009999"/>
    <a:srgbClr val="860436"/>
    <a:srgbClr val="3366FF"/>
    <a:srgbClr val="B21230"/>
    <a:srgbClr val="D60093"/>
    <a:srgbClr val="9933FF"/>
    <a:srgbClr val="800000"/>
    <a:srgbClr val="FF9933"/>
    <a:srgbClr val="940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30EE5C-DF4D-49D5-8765-1BEE26419EA2}" v="69" dt="2025-10-23T13:58:09.0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67" d="100"/>
          <a:sy n="67" d="100"/>
        </p:scale>
        <p:origin x="61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3B1A2F-252F-43A6-8685-344FA0FC4551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9D156E-3F54-4F29-95E9-24B76DD31F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402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9D156E-3F54-4F29-95E9-24B76DD31F59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5055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CEE41-A0BA-B641-9F08-72E45184E4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781925-5992-497E-9072-385C0A8D58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C85A8-AD43-B01D-C669-3839D2920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8302-DC25-4366-B3CE-CC209664546B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E8253-2B8D-8272-A855-EE736D86F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BF473-3A24-FF69-BA6C-B79F9EB30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4A68D-561D-4A79-BDB3-F9C5CC64E9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4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236A1-EFAC-9E93-5480-B05653A23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B83DD-0200-8020-EA23-D6EA70A36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72DDC-142E-6FD5-4B2C-B94598EA5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8302-DC25-4366-B3CE-CC209664546B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7B200-397A-7E6B-2F26-7F98DD939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595F-6107-011C-399C-DF5A9BA3D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4A68D-561D-4A79-BDB3-F9C5CC64E9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181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22A04-76E9-0138-6317-D324FCCAC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93A6D-0B2C-A0F3-DE43-5A462F148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A343D-B17C-F0BE-86D2-6A2E5823F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8302-DC25-4366-B3CE-CC209664546B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B03BE-0754-DFA8-9927-8E15A7E6A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76D02-9126-DD8F-D44D-916B1E4F0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4A68D-561D-4A79-BDB3-F9C5CC64E9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4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B304E-BD75-B5CF-5CED-0F15FF3CC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D4C4-4D27-F4DD-17D0-163A44AA62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B6065C-FE75-0F32-F3A4-B217C60047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AED27A-A7D1-2100-B433-D913DAB4E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8302-DC25-4366-B3CE-CC209664546B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91C401-001A-6FD0-EA0A-D43837E3D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184C5-BFBC-38D9-2B14-78452C751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4A68D-561D-4A79-BDB3-F9C5CC64E9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440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2719C-7D85-81E3-3FA3-C2B99764F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F3E0A-AEF3-F8DB-2BB2-86C267441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7AFB55-6B99-5D56-4DC7-088F702C5E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50DF9E-1759-22F0-E216-D2E31D7ED1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27F5A7-836A-9503-4971-EDC9EF8DA7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779591-C1FA-DB98-5ECF-D1B6CC356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8302-DC25-4366-B3CE-CC209664546B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A3EB9E-2AD5-60BB-50BA-82938BE63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7B933C-08E0-0483-7D07-99E3AA2F4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4A68D-561D-4A79-BDB3-F9C5CC64E9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055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29DBC-F417-42F3-B54E-721C53228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ECE539-138A-88AA-6BE7-BD163E3B7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8302-DC25-4366-B3CE-CC209664546B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5500FD-F0D0-5DE1-A2B0-E776D30DE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94E616-953E-B4C4-BDAE-D74CBB798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4A68D-561D-4A79-BDB3-F9C5CC64E9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592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26E801-EA3B-9D34-5654-FA8073ADC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8302-DC25-4366-B3CE-CC209664546B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238499-A2F1-E593-9C6A-DC50B8851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7A0E0-D8D7-1572-C4FD-C483897D9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4A68D-561D-4A79-BDB3-F9C5CC64E9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5506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9C41E-00A7-914D-9D7A-00CFFBBFD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67447-EA77-8CB6-1902-7386322C8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080F3B-DD45-7E9F-C67E-7EB2B27CC9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1C5523-26E7-7D6D-494A-471FB7395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8302-DC25-4366-B3CE-CC209664546B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ABDA96-ED21-6632-6AE0-961862EB5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B5DD5-742B-1D24-5F05-15B3C1B7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4A68D-561D-4A79-BDB3-F9C5CC64E9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1285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2B89A-B9FF-FED2-00EF-4A99D2E45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CB475A-45CD-DE04-8EFA-8275164BB6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5F54F-88CE-C8D1-2C19-97C9EF41E6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21F9F1-E779-98C2-CFC4-37883F5D5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8302-DC25-4366-B3CE-CC209664546B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513F61-E241-583F-5D48-66843321A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D274F2-1DBA-7B6E-3644-1BD17F0A9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4A68D-561D-4A79-BDB3-F9C5CC64E9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6860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9E62D-91CC-21D6-0AE3-4B31379C3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A00F4B-2722-BBDC-85A2-8BDFECF520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0A85C-CBE6-94C4-3AE9-FC4D27D02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8302-DC25-4366-B3CE-CC209664546B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879FE1-2A41-AD04-19A9-A2F153846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E4113-C37F-5502-A0BC-77C4A0476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4A68D-561D-4A79-BDB3-F9C5CC64E9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921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36A99B-5E81-77D7-3E9E-3B8877E78A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CDEEFB-551A-B7FF-A14C-E7E0AA2FD8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E1023-F41A-CDD6-1F47-53004B10C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8302-DC25-4366-B3CE-CC209664546B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85983-0328-2768-B0EF-62D01871A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A49CA-417F-AC02-6ACD-136A8C8F3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4A68D-561D-4A79-BDB3-F9C5CC64E9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879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ECF1D0-8677-054A-FBF4-966415C5E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40600-1B9F-6466-BB1C-7E8A3F44C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FE04B-3DED-5BD4-A5B2-33787E21F0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58302-DC25-4366-B3CE-CC209664546B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55510-9521-2B00-AA65-0058C05780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D4E02-763D-1170-30EE-D973A588E5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B4A68D-561D-4A79-BDB3-F9C5CC64E9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521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DB90024C-1027-141D-0946-5ADCD023C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6294"/>
            <a:ext cx="4639112" cy="5261705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900F6418-17FC-2F6D-2879-0B59B31063D9}"/>
              </a:ext>
            </a:extLst>
          </p:cNvPr>
          <p:cNvSpPr/>
          <p:nvPr/>
        </p:nvSpPr>
        <p:spPr>
          <a:xfrm>
            <a:off x="5042238" y="1874644"/>
            <a:ext cx="6965273" cy="1285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" algn="ctr">
              <a:lnSpc>
                <a:spcPct val="100000"/>
              </a:lnSpc>
              <a:spcBef>
                <a:spcPts val="700"/>
              </a:spcBef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</a:t>
            </a:r>
            <a:r>
              <a:rPr lang="en-US"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US"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Final </a:t>
            </a:r>
            <a:r>
              <a:rPr lang="en-US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r>
              <a:rPr lang="en-US"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lang="en-US" sz="2800" b="1" spc="-10" dirty="0">
                <a:solidFill>
                  <a:srgbClr val="B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LPG Gas leakage detector using Arduino</a:t>
            </a:r>
            <a:r>
              <a:rPr lang="en-US" sz="2800" b="1" spc="-10" dirty="0">
                <a:solidFill>
                  <a:srgbClr val="B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B167FF-0938-0FF4-E2C3-85A55502211F}"/>
              </a:ext>
            </a:extLst>
          </p:cNvPr>
          <p:cNvSpPr txBox="1"/>
          <p:nvPr/>
        </p:nvSpPr>
        <p:spPr>
          <a:xfrm>
            <a:off x="5125959" y="3368419"/>
            <a:ext cx="599924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Darshan N J (4JN23ET013)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Indudhara K (4JN23ET020)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Manoj Kumar G G  (4JN23ET028)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Rohith Shreyams Chulaki (4JN23ET045)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511A53-060B-D0DE-2F3B-7025551F1E6E}"/>
              </a:ext>
            </a:extLst>
          </p:cNvPr>
          <p:cNvSpPr txBox="1"/>
          <p:nvPr/>
        </p:nvSpPr>
        <p:spPr>
          <a:xfrm>
            <a:off x="5125959" y="5105322"/>
            <a:ext cx="682088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Electronics &amp; Telecommunication Engineering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965502-2DBE-39D0-8D75-53040098C572}"/>
              </a:ext>
            </a:extLst>
          </p:cNvPr>
          <p:cNvSpPr txBox="1"/>
          <p:nvPr/>
        </p:nvSpPr>
        <p:spPr>
          <a:xfrm>
            <a:off x="5125960" y="5756914"/>
            <a:ext cx="46391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of: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Madhukar C 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ETE Dept. JNNCE Shivamogga</a:t>
            </a: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C20C516F-C84B-B8F6-492C-5A95F5888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90531" y="184346"/>
            <a:ext cx="12897994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300" b="0" i="0" u="none" strike="noStrike" cap="none" dirty="0">
                <a:ln>
                  <a:noFill/>
                </a:ln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National Education Society ®</a:t>
            </a:r>
            <a:endParaRPr lang="en-US" sz="2300" b="0" i="0" u="none" strike="noStrike" cap="none" dirty="0">
              <a:ln>
                <a:noFill/>
              </a:ln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300" b="1" i="0" u="sng" strike="noStrike" cap="none" dirty="0">
                <a:ln>
                  <a:noFill/>
                </a:ln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Jawaharlal Nehru New College of Engineering, Shivamogga</a:t>
            </a:r>
            <a:endParaRPr lang="en-US" sz="2300" b="0" i="0" u="sng" strike="noStrike" cap="none" dirty="0">
              <a:ln>
                <a:noFill/>
              </a:ln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30" descr="NES Logo">
            <a:extLst>
              <a:ext uri="{FF2B5EF4-FFF2-40B4-BE49-F238E27FC236}">
                <a16:creationId xmlns:a16="http://schemas.microsoft.com/office/drawing/2014/main" id="{D7EFBCDA-6ABF-BA8F-5AAD-F0F551066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255816" y="0"/>
            <a:ext cx="2134816" cy="1537797"/>
          </a:xfrm>
          <a:prstGeom prst="rect">
            <a:avLst/>
          </a:prstGeom>
          <a:noFill/>
        </p:spPr>
      </p:pic>
      <p:pic>
        <p:nvPicPr>
          <p:cNvPr id="9" name="Picture 31">
            <a:extLst>
              <a:ext uri="{FF2B5EF4-FFF2-40B4-BE49-F238E27FC236}">
                <a16:creationId xmlns:a16="http://schemas.microsoft.com/office/drawing/2014/main" id="{985036F8-4E5A-269E-E09C-C1AE6EA3C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0022495" y="76641"/>
            <a:ext cx="1924353" cy="1442403"/>
          </a:xfrm>
          <a:prstGeom prst="rect">
            <a:avLst/>
          </a:prstGeom>
          <a:noFill/>
        </p:spPr>
      </p:pic>
      <p:sp>
        <p:nvSpPr>
          <p:cNvPr id="10" name="Rectangle 6">
            <a:extLst>
              <a:ext uri="{FF2B5EF4-FFF2-40B4-BE49-F238E27FC236}">
                <a16:creationId xmlns:a16="http://schemas.microsoft.com/office/drawing/2014/main" id="{3B668804-9317-0837-0592-40174F4B55B0}"/>
              </a:ext>
            </a:extLst>
          </p:cNvPr>
          <p:cNvSpPr/>
          <p:nvPr/>
        </p:nvSpPr>
        <p:spPr bwMode="auto">
          <a:xfrm>
            <a:off x="1838686" y="1024276"/>
            <a:ext cx="88395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IN" sz="2400" b="1" u="sng" dirty="0"/>
              <a:t>Dept. of Electronics and Telecommunication  Engineering</a:t>
            </a:r>
            <a:endParaRPr sz="2400" u="sng" dirty="0"/>
          </a:p>
        </p:txBody>
      </p:sp>
      <p:cxnSp>
        <p:nvCxnSpPr>
          <p:cNvPr id="11" name="Straight Connector 11">
            <a:extLst>
              <a:ext uri="{FF2B5EF4-FFF2-40B4-BE49-F238E27FC236}">
                <a16:creationId xmlns:a16="http://schemas.microsoft.com/office/drawing/2014/main" id="{2A34CEFA-C44F-FB88-12FD-7A85AAEB405E}"/>
              </a:ext>
            </a:extLst>
          </p:cNvPr>
          <p:cNvCxnSpPr>
            <a:cxnSpLocks/>
          </p:cNvCxnSpPr>
          <p:nvPr/>
        </p:nvCxnSpPr>
        <p:spPr bwMode="auto">
          <a:xfrm>
            <a:off x="0" y="1596294"/>
            <a:ext cx="12192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0DFEC46-D674-0295-DA53-AB847FA4DFFE}"/>
              </a:ext>
            </a:extLst>
          </p:cNvPr>
          <p:cNvSpPr/>
          <p:nvPr/>
        </p:nvSpPr>
        <p:spPr>
          <a:xfrm>
            <a:off x="4981575" y="1752600"/>
            <a:ext cx="7086600" cy="1510129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204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566485B-12A3-DC39-9945-240626CE1DCD}"/>
              </a:ext>
            </a:extLst>
          </p:cNvPr>
          <p:cNvSpPr txBox="1"/>
          <p:nvPr/>
        </p:nvSpPr>
        <p:spPr>
          <a:xfrm>
            <a:off x="404768" y="245472"/>
            <a:ext cx="26813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34F320-356C-1208-4C0A-585E37816A1B}"/>
              </a:ext>
            </a:extLst>
          </p:cNvPr>
          <p:cNvSpPr txBox="1"/>
          <p:nvPr/>
        </p:nvSpPr>
        <p:spPr>
          <a:xfrm>
            <a:off x="800100" y="830247"/>
            <a:ext cx="8553450" cy="5696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54965" indent="-342265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Of The Project</a:t>
            </a:r>
          </a:p>
          <a:p>
            <a:pPr marL="354965" indent="-342265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54965" indent="-342265">
              <a:spcBef>
                <a:spcPts val="325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715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US" sz="26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354965" indent="-342265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And Methodology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715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</a:p>
          <a:p>
            <a:pPr marL="354965" indent="-342265">
              <a:lnSpc>
                <a:spcPct val="100000"/>
              </a:lnSpc>
              <a:spcBef>
                <a:spcPts val="715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Diagram</a:t>
            </a:r>
          </a:p>
          <a:p>
            <a:pPr marL="354965" indent="-342265">
              <a:lnSpc>
                <a:spcPct val="100000"/>
              </a:lnSpc>
              <a:spcBef>
                <a:spcPts val="715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354965" indent="-342265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and Enhancements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5A7423-AC58-DB03-28B1-3814F15C8BC2}"/>
              </a:ext>
            </a:extLst>
          </p:cNvPr>
          <p:cNvSpPr txBox="1"/>
          <p:nvPr/>
        </p:nvSpPr>
        <p:spPr>
          <a:xfrm>
            <a:off x="5905499" y="830247"/>
            <a:ext cx="5486401" cy="1472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15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54965" indent="-342265">
              <a:lnSpc>
                <a:spcPct val="100000"/>
              </a:lnSpc>
              <a:spcBef>
                <a:spcPts val="715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IN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en-US" sz="26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715"/>
              </a:spcBef>
              <a:buFont typeface="Arial MT"/>
              <a:buChar char="•"/>
              <a:tabLst>
                <a:tab pos="354965" algn="l"/>
              </a:tabLst>
            </a:pPr>
            <a:endParaRPr lang="en-US" sz="26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B58A707-4B85-EED9-8DC3-531DBDD36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499" y="2095740"/>
            <a:ext cx="6048376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555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D045A27-7634-DF57-5AAD-E28ECCA3082D}"/>
              </a:ext>
            </a:extLst>
          </p:cNvPr>
          <p:cNvSpPr txBox="1"/>
          <p:nvPr/>
        </p:nvSpPr>
        <p:spPr>
          <a:xfrm>
            <a:off x="352426" y="438148"/>
            <a:ext cx="65531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C3FBBB-E4B2-EBEB-FA52-68C42E6F76DC}"/>
              </a:ext>
            </a:extLst>
          </p:cNvPr>
          <p:cNvSpPr txBox="1"/>
          <p:nvPr/>
        </p:nvSpPr>
        <p:spPr>
          <a:xfrm>
            <a:off x="609600" y="1228725"/>
            <a:ext cx="10796587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0" indent="-342900"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LPG is a common household and industrial fuel, but its leakage can cause severe fire accidents and health hazards. </a:t>
            </a:r>
          </a:p>
          <a:p>
            <a:pPr marL="360000" indent="-342900"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an LPG gas leakage detector using a gas sensor and Arduino to continuously monitor gas levels. </a:t>
            </a:r>
          </a:p>
          <a:p>
            <a:pPr marL="360000" indent="-342900"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leakage is detected, the system immediately triggers an alarm to alert the users.</a:t>
            </a:r>
          </a:p>
          <a:p>
            <a:pPr marL="360000" indent="-342900"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cost-effective, reliable, and enhances safety in homes and industries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60000" indent="-342900"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Accidental leakage of LPG can lead to fire hazards, explosions, and serious health risks. Therefore, early detection of gas leakage is essential to ensure safety and prevent life-threatening situations.</a:t>
            </a:r>
          </a:p>
        </p:txBody>
      </p:sp>
    </p:spTree>
    <p:extLst>
      <p:ext uri="{BB962C8B-B14F-4D97-AF65-F5344CB8AC3E}">
        <p14:creationId xmlns:p14="http://schemas.microsoft.com/office/powerpoint/2010/main" val="1714236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7">
            <a:extLst>
              <a:ext uri="{FF2B5EF4-FFF2-40B4-BE49-F238E27FC236}">
                <a16:creationId xmlns:a16="http://schemas.microsoft.com/office/drawing/2014/main" id="{DD54D7EE-889F-8D23-02D4-9B771B05A0B8}"/>
              </a:ext>
            </a:extLst>
          </p:cNvPr>
          <p:cNvSpPr txBox="1"/>
          <p:nvPr/>
        </p:nvSpPr>
        <p:spPr>
          <a:xfrm>
            <a:off x="747956" y="651244"/>
            <a:ext cx="4624144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r>
              <a:rPr sz="4000" b="1" spc="-5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4000" b="1" spc="-4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4000" b="1" spc="-4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endParaRPr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12">
            <a:extLst>
              <a:ext uri="{FF2B5EF4-FFF2-40B4-BE49-F238E27FC236}">
                <a16:creationId xmlns:a16="http://schemas.microsoft.com/office/drawing/2014/main" id="{83853394-FD7E-23A9-6AF3-43DD76B89806}"/>
              </a:ext>
            </a:extLst>
          </p:cNvPr>
          <p:cNvSpPr txBox="1"/>
          <p:nvPr/>
        </p:nvSpPr>
        <p:spPr>
          <a:xfrm>
            <a:off x="747956" y="1901216"/>
            <a:ext cx="989598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aim of this project is to design and develop a low-cost, reliable LPG gas leakage detection system.</a:t>
            </a:r>
          </a:p>
          <a:p>
            <a:pPr algn="just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microcontroller-based LPG leakage detection and alert system using an MQ-2 sensor and Arduino, capable of continuously monitoring gas levels and providing instant warnings to ensure household and industrial safety.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2371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15AF2-C1DE-368D-14FD-B50728A62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306387"/>
            <a:ext cx="10515600" cy="749300"/>
          </a:xfrm>
        </p:spPr>
        <p:txBody>
          <a:bodyPr>
            <a:normAutofit/>
          </a:bodyPr>
          <a:lstStyle/>
          <a:p>
            <a:r>
              <a:rPr lang="en-IN" sz="3600" b="1" spc="-10" dirty="0">
                <a:solidFill>
                  <a:srgbClr val="B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B2279-C31E-6F17-6998-FD59FE368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0" y="1333500"/>
            <a:ext cx="10515600" cy="4491038"/>
          </a:xfrm>
        </p:spPr>
        <p:txBody>
          <a:bodyPr>
            <a:normAutofit lnSpcReduction="10000"/>
          </a:bodyPr>
          <a:lstStyle/>
          <a:p>
            <a:pPr marL="285750" indent="-285750"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the presence of LPG gas leakage and activate a buzzer.</a:t>
            </a:r>
          </a:p>
          <a:p>
            <a:pPr marL="285750" indent="-285750" algn="just"/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display the gas leakage status on the lcd and automatically turn on the exhaust fan to reduce the gas concentration.</a:t>
            </a:r>
          </a:p>
          <a:p>
            <a:pPr marL="285750" indent="-285750" algn="just"/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send an alert message to the user’s mobile phone using a GSM module and servo motor automatically turns off the gas regulator when gas leakage is detected.</a:t>
            </a:r>
          </a:p>
          <a:p>
            <a:pPr marL="285750" indent="-285750" algn="just"/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safety in domestic and industrial areas by using this system.</a:t>
            </a:r>
          </a:p>
          <a:p>
            <a:pPr marL="285750" indent="-285750" algn="just"/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440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7">
            <a:extLst>
              <a:ext uri="{FF2B5EF4-FFF2-40B4-BE49-F238E27FC236}">
                <a16:creationId xmlns:a16="http://schemas.microsoft.com/office/drawing/2014/main" id="{77690DEF-424B-04DF-FFC1-8243532E9704}"/>
              </a:ext>
            </a:extLst>
          </p:cNvPr>
          <p:cNvSpPr txBox="1"/>
          <p:nvPr/>
        </p:nvSpPr>
        <p:spPr>
          <a:xfrm>
            <a:off x="641308" y="377536"/>
            <a:ext cx="7279005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30" dirty="0">
                <a:solidFill>
                  <a:srgbClr val="BF0000"/>
                </a:solidFill>
                <a:latin typeface="Calibri"/>
                <a:cs typeface="Calibri"/>
              </a:rPr>
              <a:t>Hardware</a:t>
            </a:r>
            <a:r>
              <a:rPr lang="en-US" sz="4000" b="1" spc="-30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BF0000"/>
                </a:solidFill>
                <a:latin typeface="Calibri"/>
                <a:cs typeface="Calibri"/>
              </a:rPr>
              <a:t>Requirements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6" name="object 8">
            <a:extLst>
              <a:ext uri="{FF2B5EF4-FFF2-40B4-BE49-F238E27FC236}">
                <a16:creationId xmlns:a16="http://schemas.microsoft.com/office/drawing/2014/main" id="{CD9A07BF-59FD-DEAE-93E4-CFFBF0AF5487}"/>
              </a:ext>
            </a:extLst>
          </p:cNvPr>
          <p:cNvSpPr txBox="1">
            <a:spLocks noGrp="1"/>
          </p:cNvSpPr>
          <p:nvPr/>
        </p:nvSpPr>
        <p:spPr>
          <a:xfrm>
            <a:off x="936583" y="6005569"/>
            <a:ext cx="1120139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15-08-</a:t>
            </a:r>
            <a:r>
              <a:rPr dirty="0"/>
              <a:t>2025</a:t>
            </a:r>
            <a:r>
              <a:rPr spc="-15" dirty="0"/>
              <a:t> </a:t>
            </a:r>
            <a:r>
              <a:rPr spc="-10" dirty="0"/>
              <a:t>10:53</a:t>
            </a:r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D799A3E3-1856-C718-3036-67F9A618FF15}"/>
              </a:ext>
            </a:extLst>
          </p:cNvPr>
          <p:cNvSpPr txBox="1">
            <a:spLocks noGrp="1"/>
          </p:cNvSpPr>
          <p:nvPr/>
        </p:nvSpPr>
        <p:spPr>
          <a:xfrm>
            <a:off x="11089172" y="6005569"/>
            <a:ext cx="2184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6</a:t>
            </a:fld>
            <a:endParaRPr spc="-25" dirty="0"/>
          </a:p>
        </p:txBody>
      </p:sp>
      <p:pic>
        <p:nvPicPr>
          <p:cNvPr id="8" name="table">
            <a:extLst>
              <a:ext uri="{FF2B5EF4-FFF2-40B4-BE49-F238E27FC236}">
                <a16:creationId xmlns:a16="http://schemas.microsoft.com/office/drawing/2014/main" id="{3620F7CC-6415-2DFA-AC37-BD2AFE307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28" y="1181099"/>
            <a:ext cx="11360104" cy="53088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4D6EBD-A078-4602-BBF5-CF0C61FB86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734771" y="1721670"/>
            <a:ext cx="1538289" cy="21955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E3F538-E476-439A-A275-E43AC2D78B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5012" y="3820698"/>
            <a:ext cx="1752600" cy="11873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D4A8BAC-A0BA-47A8-8EFF-BFD1C394D6C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6159" y="5167759"/>
            <a:ext cx="2354847" cy="118738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267B489-43F2-D14F-DB42-4A2A0542CFAD}"/>
              </a:ext>
            </a:extLst>
          </p:cNvPr>
          <p:cNvSpPr/>
          <p:nvPr/>
        </p:nvSpPr>
        <p:spPr>
          <a:xfrm>
            <a:off x="2619375" y="3820698"/>
            <a:ext cx="1981200" cy="26552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FEE030-F952-B114-AD5C-8401C7E24B5F}"/>
              </a:ext>
            </a:extLst>
          </p:cNvPr>
          <p:cNvSpPr/>
          <p:nvPr/>
        </p:nvSpPr>
        <p:spPr>
          <a:xfrm>
            <a:off x="2619375" y="3820698"/>
            <a:ext cx="1981200" cy="265527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MQ-2 Sensor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218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able">
            <a:extLst>
              <a:ext uri="{FF2B5EF4-FFF2-40B4-BE49-F238E27FC236}">
                <a16:creationId xmlns:a16="http://schemas.microsoft.com/office/drawing/2014/main" id="{D415C73E-E9C4-7768-0E9C-CC7FDE4E7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99" y="785812"/>
            <a:ext cx="11872676" cy="5286375"/>
          </a:xfrm>
          <a:prstGeom prst="rect">
            <a:avLst/>
          </a:prstGeom>
        </p:spPr>
      </p:pic>
      <p:pic>
        <p:nvPicPr>
          <p:cNvPr id="6" name="Picture 5" descr="A black round object with red wires&#10;&#10;AI-generated content may be incorrect.">
            <a:extLst>
              <a:ext uri="{FF2B5EF4-FFF2-40B4-BE49-F238E27FC236}">
                <a16:creationId xmlns:a16="http://schemas.microsoft.com/office/drawing/2014/main" id="{71BD0BFD-5B3D-AEF6-9CF7-2A6CBF074A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2709" y="1989240"/>
            <a:ext cx="2545692" cy="1863230"/>
          </a:xfrm>
          <a:prstGeom prst="rect">
            <a:avLst/>
          </a:prstGeom>
        </p:spPr>
      </p:pic>
      <p:pic>
        <p:nvPicPr>
          <p:cNvPr id="7" name="Picture 6" descr="A close-up of a blue circuit board&#10;&#10;AI-generated content may be incorrect.">
            <a:extLst>
              <a:ext uri="{FF2B5EF4-FFF2-40B4-BE49-F238E27FC236}">
                <a16:creationId xmlns:a16="http://schemas.microsoft.com/office/drawing/2014/main" id="{8058FB80-B7F2-DB5F-9FCB-031637F4930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2709" y="4095710"/>
            <a:ext cx="2545692" cy="173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446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7">
            <a:extLst>
              <a:ext uri="{FF2B5EF4-FFF2-40B4-BE49-F238E27FC236}">
                <a16:creationId xmlns:a16="http://schemas.microsoft.com/office/drawing/2014/main" id="{5B25A9A6-017B-1596-A89E-78477E1849FF}"/>
              </a:ext>
            </a:extLst>
          </p:cNvPr>
          <p:cNvSpPr txBox="1"/>
          <p:nvPr/>
        </p:nvSpPr>
        <p:spPr>
          <a:xfrm>
            <a:off x="415697" y="449238"/>
            <a:ext cx="10784117" cy="11201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</a:lstStyle>
          <a:p>
            <a:pPr marL="97790">
              <a:lnSpc>
                <a:spcPct val="100000"/>
              </a:lnSpc>
              <a:spcBef>
                <a:spcPts val="95"/>
              </a:spcBef>
            </a:pPr>
            <a:r>
              <a:rPr sz="3600" b="1" spc="-25" dirty="0">
                <a:solidFill>
                  <a:srgbClr val="B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sz="3600" b="1" spc="-145" dirty="0">
                <a:solidFill>
                  <a:srgbClr val="B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10" dirty="0">
                <a:solidFill>
                  <a:srgbClr val="B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3600" b="1" spc="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9">
            <a:extLst>
              <a:ext uri="{FF2B5EF4-FFF2-40B4-BE49-F238E27FC236}">
                <a16:creationId xmlns:a16="http://schemas.microsoft.com/office/drawing/2014/main" id="{35A8A472-8362-DC5E-3B48-13C2CDCFA0C1}"/>
              </a:ext>
            </a:extLst>
          </p:cNvPr>
          <p:cNvSpPr txBox="1">
            <a:spLocks noGrp="1"/>
          </p:cNvSpPr>
          <p:nvPr/>
        </p:nvSpPr>
        <p:spPr>
          <a:xfrm>
            <a:off x="11090594" y="5897141"/>
            <a:ext cx="218440" cy="2235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z="3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pPr marL="12700">
                <a:lnSpc>
                  <a:spcPts val="1240"/>
                </a:lnSpc>
              </a:pPr>
              <a:t>8</a:t>
            </a:fld>
            <a:endParaRPr sz="3600"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table">
            <a:extLst>
              <a:ext uri="{FF2B5EF4-FFF2-40B4-BE49-F238E27FC236}">
                <a16:creationId xmlns:a16="http://schemas.microsoft.com/office/drawing/2014/main" id="{4F0ADE37-1498-9B0B-3BF4-A506A57AC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12" y="1471002"/>
            <a:ext cx="11310576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626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able">
            <a:extLst>
              <a:ext uri="{FF2B5EF4-FFF2-40B4-BE49-F238E27FC236}">
                <a16:creationId xmlns:a16="http://schemas.microsoft.com/office/drawing/2014/main" id="{CB4CFAD8-56D9-22FE-006E-CD9A6A51C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86" y="767253"/>
            <a:ext cx="11612228" cy="532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678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able">
            <a:extLst>
              <a:ext uri="{FF2B5EF4-FFF2-40B4-BE49-F238E27FC236}">
                <a16:creationId xmlns:a16="http://schemas.microsoft.com/office/drawing/2014/main" id="{A11ADC69-3C72-C54A-4111-C01F214CE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29" y="1104900"/>
            <a:ext cx="11633341" cy="333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904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7">
            <a:extLst>
              <a:ext uri="{FF2B5EF4-FFF2-40B4-BE49-F238E27FC236}">
                <a16:creationId xmlns:a16="http://schemas.microsoft.com/office/drawing/2014/main" id="{1DE2B4E9-033F-677D-7B42-895757DE930E}"/>
              </a:ext>
            </a:extLst>
          </p:cNvPr>
          <p:cNvSpPr txBox="1"/>
          <p:nvPr/>
        </p:nvSpPr>
        <p:spPr>
          <a:xfrm>
            <a:off x="752475" y="505840"/>
            <a:ext cx="3090574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3600" b="1" spc="-10" dirty="0">
                <a:solidFill>
                  <a:srgbClr val="B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18">
            <a:extLst>
              <a:ext uri="{FF2B5EF4-FFF2-40B4-BE49-F238E27FC236}">
                <a16:creationId xmlns:a16="http://schemas.microsoft.com/office/drawing/2014/main" id="{604C2CD2-BBA0-43C0-8BEE-9A2746EE4D9D}"/>
              </a:ext>
            </a:extLst>
          </p:cNvPr>
          <p:cNvSpPr txBox="1"/>
          <p:nvPr/>
        </p:nvSpPr>
        <p:spPr>
          <a:xfrm>
            <a:off x="752475" y="1362076"/>
            <a:ext cx="1059584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</a:lstStyle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MQ-2 sensor is connected with the Arduino to detect LPG concentration in atmosphere and triggers the buzzer.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LCD display for the leakage status and the exhaust fan to reduce gas concentration.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the GSM module to send an alert message to the user’s mobile phone and servo motor automatically turns off the gas regulator to ensure quick response and safety.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continuous monitoring of sensor readings</a:t>
            </a:r>
            <a:r>
              <a:rPr lang="en-US" sz="2500" dirty="0"/>
              <a:t>.</a:t>
            </a: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1222642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able">
            <a:extLst>
              <a:ext uri="{FF2B5EF4-FFF2-40B4-BE49-F238E27FC236}">
                <a16:creationId xmlns:a16="http://schemas.microsoft.com/office/drawing/2014/main" id="{3DE4DBA1-9B20-A5B6-A3E3-8B19D0168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218" y="1543226"/>
            <a:ext cx="11409317" cy="4629150"/>
          </a:xfrm>
          <a:prstGeom prst="rect">
            <a:avLst/>
          </a:prstGeom>
        </p:spPr>
      </p:pic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B77E6B6-3ADE-4C21-837F-3A23BA37BB07}"/>
              </a:ext>
            </a:extLst>
          </p:cNvPr>
          <p:cNvSpPr>
            <a:spLocks noGrp="1"/>
          </p:cNvSpPr>
          <p:nvPr/>
        </p:nvSpPr>
        <p:spPr>
          <a:xfrm>
            <a:off x="903988" y="57442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 kern="0"/>
            </a:defPPr>
            <a:lvl1pPr algn="l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IN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FBAF71DD-65EF-43DD-BAC1-5C9FD1348FA9}"/>
              </a:ext>
            </a:extLst>
          </p:cNvPr>
          <p:cNvSpPr>
            <a:spLocks noGrp="1"/>
          </p:cNvSpPr>
          <p:nvPr/>
        </p:nvSpPr>
        <p:spPr>
          <a:xfrm>
            <a:off x="8676388" y="57442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 kern="0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E9075E-779C-A5F7-5F82-42EA7FCE42B0}"/>
              </a:ext>
            </a:extLst>
          </p:cNvPr>
          <p:cNvSpPr txBox="1"/>
          <p:nvPr/>
        </p:nvSpPr>
        <p:spPr>
          <a:xfrm>
            <a:off x="391412" y="504649"/>
            <a:ext cx="60890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kern="0"/>
            </a:defPPr>
          </a:lstStyle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&amp; Methodology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E4DDC1-AA85-CFCF-6AA6-18EC0621AB60}"/>
              </a:ext>
            </a:extLst>
          </p:cNvPr>
          <p:cNvSpPr/>
          <p:nvPr/>
        </p:nvSpPr>
        <p:spPr>
          <a:xfrm>
            <a:off x="7991475" y="2124075"/>
            <a:ext cx="190500" cy="285750"/>
          </a:xfrm>
          <a:prstGeom prst="rect">
            <a:avLst/>
          </a:prstGeom>
          <a:solidFill>
            <a:srgbClr val="B2C3E6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136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7">
            <a:extLst>
              <a:ext uri="{FF2B5EF4-FFF2-40B4-BE49-F238E27FC236}">
                <a16:creationId xmlns:a16="http://schemas.microsoft.com/office/drawing/2014/main" id="{D2F3B82A-7A47-C4B4-4AEC-9728FD5F3042}"/>
              </a:ext>
            </a:extLst>
          </p:cNvPr>
          <p:cNvSpPr txBox="1"/>
          <p:nvPr/>
        </p:nvSpPr>
        <p:spPr>
          <a:xfrm>
            <a:off x="959428" y="321951"/>
            <a:ext cx="7161568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b="1" dirty="0">
                <a:solidFill>
                  <a:srgbClr val="B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sz="3600" b="1" spc="-85" dirty="0">
                <a:solidFill>
                  <a:srgbClr val="B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10" dirty="0">
                <a:solidFill>
                  <a:srgbClr val="B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r>
              <a:rPr sz="3600" b="1" spc="-80" dirty="0">
                <a:solidFill>
                  <a:srgbClr val="B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>
                <a:solidFill>
                  <a:srgbClr val="B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600" b="1" spc="-80" dirty="0">
                <a:solidFill>
                  <a:srgbClr val="B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>
                <a:solidFill>
                  <a:srgbClr val="B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600" b="1" spc="-80" dirty="0">
                <a:solidFill>
                  <a:srgbClr val="B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10" dirty="0">
                <a:solidFill>
                  <a:srgbClr val="B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88A116-357C-175C-DDBB-E43BA4406B52}"/>
              </a:ext>
            </a:extLst>
          </p:cNvPr>
          <p:cNvSpPr/>
          <p:nvPr/>
        </p:nvSpPr>
        <p:spPr>
          <a:xfrm>
            <a:off x="4822501" y="3358016"/>
            <a:ext cx="2895600" cy="114853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kern="0"/>
            </a:defPPr>
            <a:lvl1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AD3DAB9-C0ED-EDDB-5C47-2F09D2BFDA7C}"/>
              </a:ext>
            </a:extLst>
          </p:cNvPr>
          <p:cNvSpPr/>
          <p:nvPr/>
        </p:nvSpPr>
        <p:spPr>
          <a:xfrm>
            <a:off x="9318301" y="2977016"/>
            <a:ext cx="1219200" cy="457200"/>
          </a:xfrm>
          <a:prstGeom prst="round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kern="0"/>
            </a:defPPr>
            <a:lvl1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2B887D-30D6-2989-BB2E-FE9A9F247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8301" y="3691469"/>
            <a:ext cx="1243692" cy="4816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A1EA69-9C31-6506-91A8-5D1A68C4B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8301" y="4430348"/>
            <a:ext cx="1243692" cy="4816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0593B56-FBD5-1407-16C0-3145B6257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101" y="3005486"/>
            <a:ext cx="1638104" cy="634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10DE908-EA36-C2E0-DD1C-375703AFB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104" y="4010673"/>
            <a:ext cx="1638101" cy="6343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F6B5B9-00B2-F169-131C-A0D07BED8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301" y="5034416"/>
            <a:ext cx="1828800" cy="7290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BB72489-0C3E-6E89-A8AD-201606910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7671" y="5034416"/>
            <a:ext cx="1489659" cy="7290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3A0CB8A-6490-C9DC-23EC-3D271718C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901" y="2475963"/>
            <a:ext cx="1828800" cy="6343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56C6435-806B-2E2A-A303-01F61EF93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212" y="1606331"/>
            <a:ext cx="3276600" cy="729067"/>
          </a:xfrm>
          <a:prstGeom prst="rect">
            <a:avLst/>
          </a:prstGeom>
        </p:spPr>
      </p:pic>
      <p:sp>
        <p:nvSpPr>
          <p:cNvPr id="16" name="TextBox 22">
            <a:extLst>
              <a:ext uri="{FF2B5EF4-FFF2-40B4-BE49-F238E27FC236}">
                <a16:creationId xmlns:a16="http://schemas.microsoft.com/office/drawing/2014/main" id="{CA0CBD40-E287-302E-3357-1A952F360303}"/>
              </a:ext>
            </a:extLst>
          </p:cNvPr>
          <p:cNvSpPr txBox="1"/>
          <p:nvPr/>
        </p:nvSpPr>
        <p:spPr>
          <a:xfrm>
            <a:off x="9470701" y="3759107"/>
            <a:ext cx="11674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25">
            <a:extLst>
              <a:ext uri="{FF2B5EF4-FFF2-40B4-BE49-F238E27FC236}">
                <a16:creationId xmlns:a16="http://schemas.microsoft.com/office/drawing/2014/main" id="{DFB985E7-F2BF-6203-0753-87A262895D68}"/>
              </a:ext>
            </a:extLst>
          </p:cNvPr>
          <p:cNvSpPr txBox="1"/>
          <p:nvPr/>
        </p:nvSpPr>
        <p:spPr>
          <a:xfrm>
            <a:off x="9649041" y="4460370"/>
            <a:ext cx="6126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kern="0"/>
            </a:def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Fan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26">
            <a:extLst>
              <a:ext uri="{FF2B5EF4-FFF2-40B4-BE49-F238E27FC236}">
                <a16:creationId xmlns:a16="http://schemas.microsoft.com/office/drawing/2014/main" id="{B9199E75-529B-80A5-AC2B-A4111841DEC5}"/>
              </a:ext>
            </a:extLst>
          </p:cNvPr>
          <p:cNvSpPr txBox="1"/>
          <p:nvPr/>
        </p:nvSpPr>
        <p:spPr>
          <a:xfrm>
            <a:off x="6838042" y="5034416"/>
            <a:ext cx="1600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 off gas regulator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27">
            <a:extLst>
              <a:ext uri="{FF2B5EF4-FFF2-40B4-BE49-F238E27FC236}">
                <a16:creationId xmlns:a16="http://schemas.microsoft.com/office/drawing/2014/main" id="{7E6349F5-720D-371F-D6A3-C257F46ABF08}"/>
              </a:ext>
            </a:extLst>
          </p:cNvPr>
          <p:cNvSpPr txBox="1"/>
          <p:nvPr/>
        </p:nvSpPr>
        <p:spPr>
          <a:xfrm>
            <a:off x="4365301" y="5034416"/>
            <a:ext cx="1003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Servo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28">
            <a:extLst>
              <a:ext uri="{FF2B5EF4-FFF2-40B4-BE49-F238E27FC236}">
                <a16:creationId xmlns:a16="http://schemas.microsoft.com/office/drawing/2014/main" id="{08D660F1-0603-2D46-D767-41D6152710DE}"/>
              </a:ext>
            </a:extLst>
          </p:cNvPr>
          <p:cNvSpPr txBox="1"/>
          <p:nvPr/>
        </p:nvSpPr>
        <p:spPr>
          <a:xfrm>
            <a:off x="2384102" y="3952539"/>
            <a:ext cx="11525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9">
            <a:extLst>
              <a:ext uri="{FF2B5EF4-FFF2-40B4-BE49-F238E27FC236}">
                <a16:creationId xmlns:a16="http://schemas.microsoft.com/office/drawing/2014/main" id="{881A8C54-1A26-FFD2-36C5-4DE638E4B9BE}"/>
              </a:ext>
            </a:extLst>
          </p:cNvPr>
          <p:cNvSpPr txBox="1"/>
          <p:nvPr/>
        </p:nvSpPr>
        <p:spPr>
          <a:xfrm>
            <a:off x="2342193" y="2977016"/>
            <a:ext cx="10325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30">
            <a:extLst>
              <a:ext uri="{FF2B5EF4-FFF2-40B4-BE49-F238E27FC236}">
                <a16:creationId xmlns:a16="http://schemas.microsoft.com/office/drawing/2014/main" id="{BD106F3F-1EE7-3E4C-21AC-AE4378CA265A}"/>
              </a:ext>
            </a:extLst>
          </p:cNvPr>
          <p:cNvSpPr txBox="1"/>
          <p:nvPr/>
        </p:nvSpPr>
        <p:spPr>
          <a:xfrm>
            <a:off x="5414577" y="2581543"/>
            <a:ext cx="17114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WIFI module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31">
            <a:extLst>
              <a:ext uri="{FF2B5EF4-FFF2-40B4-BE49-F238E27FC236}">
                <a16:creationId xmlns:a16="http://schemas.microsoft.com/office/drawing/2014/main" id="{DA3C5E4F-2C34-3694-26E5-181DB9E16102}"/>
              </a:ext>
            </a:extLst>
          </p:cNvPr>
          <p:cNvSpPr txBox="1"/>
          <p:nvPr/>
        </p:nvSpPr>
        <p:spPr>
          <a:xfrm>
            <a:off x="4764934" y="1616921"/>
            <a:ext cx="29531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data and send alert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message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289C16E-FBC0-4D27-1D41-AA9021D7955C}"/>
              </a:ext>
            </a:extLst>
          </p:cNvPr>
          <p:cNvCxnSpPr>
            <a:stCxn id="6" idx="0"/>
            <a:endCxn id="14" idx="2"/>
          </p:cNvCxnSpPr>
          <p:nvPr/>
        </p:nvCxnSpPr>
        <p:spPr>
          <a:xfrm flipV="1">
            <a:off x="6270301" y="3110328"/>
            <a:ext cx="0" cy="247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297754F-5379-5C9D-D9DA-32D60BB61566}"/>
              </a:ext>
            </a:extLst>
          </p:cNvPr>
          <p:cNvCxnSpPr>
            <a:stCxn id="14" idx="0"/>
            <a:endCxn id="23" idx="2"/>
          </p:cNvCxnSpPr>
          <p:nvPr/>
        </p:nvCxnSpPr>
        <p:spPr>
          <a:xfrm flipH="1" flipV="1">
            <a:off x="6241518" y="2324807"/>
            <a:ext cx="28783" cy="151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B606172-AF03-4869-321E-7E07A7C6F236}"/>
              </a:ext>
            </a:extLst>
          </p:cNvPr>
          <p:cNvCxnSpPr>
            <a:stCxn id="6" idx="3"/>
            <a:endCxn id="8" idx="1"/>
          </p:cNvCxnSpPr>
          <p:nvPr/>
        </p:nvCxnSpPr>
        <p:spPr>
          <a:xfrm flipV="1">
            <a:off x="7718101" y="3932282"/>
            <a:ext cx="16002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1B5A100-0419-2386-4203-8813854C7FD7}"/>
              </a:ext>
            </a:extLst>
          </p:cNvPr>
          <p:cNvCxnSpPr/>
          <p:nvPr/>
        </p:nvCxnSpPr>
        <p:spPr>
          <a:xfrm>
            <a:off x="5051101" y="4506549"/>
            <a:ext cx="0" cy="5278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2D4638B-817B-2272-E4F3-96F44BF9CFC2}"/>
              </a:ext>
            </a:extLst>
          </p:cNvPr>
          <p:cNvCxnSpPr>
            <a:stCxn id="13" idx="3"/>
            <a:endCxn id="12" idx="1"/>
          </p:cNvCxnSpPr>
          <p:nvPr/>
        </p:nvCxnSpPr>
        <p:spPr>
          <a:xfrm>
            <a:off x="5567330" y="5398950"/>
            <a:ext cx="10839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54AD3DC5-56C8-9622-535D-6FBFDF97F2DC}"/>
              </a:ext>
            </a:extLst>
          </p:cNvPr>
          <p:cNvCxnSpPr>
            <a:stCxn id="10" idx="3"/>
          </p:cNvCxnSpPr>
          <p:nvPr/>
        </p:nvCxnSpPr>
        <p:spPr>
          <a:xfrm>
            <a:off x="3641205" y="3322668"/>
            <a:ext cx="1152512" cy="36880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04559B9D-51DB-A1F6-4005-692F7F238F1A}"/>
              </a:ext>
            </a:extLst>
          </p:cNvPr>
          <p:cNvCxnSpPr>
            <a:stCxn id="11" idx="3"/>
          </p:cNvCxnSpPr>
          <p:nvPr/>
        </p:nvCxnSpPr>
        <p:spPr>
          <a:xfrm flipV="1">
            <a:off x="3641205" y="4010673"/>
            <a:ext cx="1152512" cy="31718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04B1D88D-FF32-CBBA-15E9-C531CD8F8B8D}"/>
              </a:ext>
            </a:extLst>
          </p:cNvPr>
          <p:cNvCxnSpPr>
            <a:endCxn id="7" idx="1"/>
          </p:cNvCxnSpPr>
          <p:nvPr/>
        </p:nvCxnSpPr>
        <p:spPr>
          <a:xfrm flipV="1">
            <a:off x="7718101" y="3205616"/>
            <a:ext cx="1600200" cy="41773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93C802AF-9391-35D2-0E00-E4955AC988BC}"/>
              </a:ext>
            </a:extLst>
          </p:cNvPr>
          <p:cNvCxnSpPr>
            <a:endCxn id="9" idx="1"/>
          </p:cNvCxnSpPr>
          <p:nvPr/>
        </p:nvCxnSpPr>
        <p:spPr>
          <a:xfrm>
            <a:off x="7746884" y="4312742"/>
            <a:ext cx="1571417" cy="35841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1598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591E7-C173-FD4A-EF6A-AED03A4A2F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9465" y="350838"/>
            <a:ext cx="9144000" cy="592137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  <a:endParaRPr lang="en-I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1BF0F8-927B-C6C0-9C96-F2ACEB6AA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9379" y="942975"/>
            <a:ext cx="9753156" cy="584140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976937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7">
            <a:extLst>
              <a:ext uri="{FF2B5EF4-FFF2-40B4-BE49-F238E27FC236}">
                <a16:creationId xmlns:a16="http://schemas.microsoft.com/office/drawing/2014/main" id="{9EAF0900-EAC5-F151-A699-605BBF1E7800}"/>
              </a:ext>
            </a:extLst>
          </p:cNvPr>
          <p:cNvSpPr txBox="1"/>
          <p:nvPr/>
        </p:nvSpPr>
        <p:spPr>
          <a:xfrm>
            <a:off x="790056" y="728323"/>
            <a:ext cx="5859494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600" b="1" dirty="0">
                <a:solidFill>
                  <a:srgbClr val="B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 Diagram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close-up of a circuit board">
            <a:extLst>
              <a:ext uri="{FF2B5EF4-FFF2-40B4-BE49-F238E27FC236}">
                <a16:creationId xmlns:a16="http://schemas.microsoft.com/office/drawing/2014/main" id="{9CC06D23-58D1-6E19-82B2-16D15764A2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675630" y="165249"/>
            <a:ext cx="4567577" cy="736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626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7">
            <a:extLst>
              <a:ext uri="{FF2B5EF4-FFF2-40B4-BE49-F238E27FC236}">
                <a16:creationId xmlns:a16="http://schemas.microsoft.com/office/drawing/2014/main" id="{F1B470CA-D0A0-3311-036B-790D84AC8E55}"/>
              </a:ext>
            </a:extLst>
          </p:cNvPr>
          <p:cNvSpPr txBox="1"/>
          <p:nvPr/>
        </p:nvSpPr>
        <p:spPr>
          <a:xfrm>
            <a:off x="957313" y="669207"/>
            <a:ext cx="5935694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3600" b="1" spc="-10" dirty="0">
                <a:solidFill>
                  <a:srgbClr val="B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96F84CD2-F789-71A5-7FC7-ED23E24F87C4}"/>
              </a:ext>
            </a:extLst>
          </p:cNvPr>
          <p:cNvSpPr txBox="1"/>
          <p:nvPr/>
        </p:nvSpPr>
        <p:spPr>
          <a:xfrm>
            <a:off x="840938" y="1490973"/>
            <a:ext cx="9055537" cy="45574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built using Arduino UNO as the main controller.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MQ-2 sensor detects LPG gas concentration and sends signals to Arduino.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 provide audio alerts and LCD display provides visual alerts during the gas leakage.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Exhaust fan is automatically turned on to reduce gas concentration.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SMS through GSM800L alert to the user for remote warning and automatically turns off the gas regulator.</a:t>
            </a:r>
          </a:p>
        </p:txBody>
      </p:sp>
    </p:spTree>
    <p:extLst>
      <p:ext uri="{BB962C8B-B14F-4D97-AF65-F5344CB8AC3E}">
        <p14:creationId xmlns:p14="http://schemas.microsoft.com/office/powerpoint/2010/main" val="25998833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7">
            <a:extLst>
              <a:ext uri="{FF2B5EF4-FFF2-40B4-BE49-F238E27FC236}">
                <a16:creationId xmlns:a16="http://schemas.microsoft.com/office/drawing/2014/main" id="{15D143DC-2AA0-576A-CCCD-F29786DE997C}"/>
              </a:ext>
            </a:extLst>
          </p:cNvPr>
          <p:cNvSpPr txBox="1"/>
          <p:nvPr/>
        </p:nvSpPr>
        <p:spPr>
          <a:xfrm>
            <a:off x="833843" y="767154"/>
            <a:ext cx="5859494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600" b="1" dirty="0">
                <a:solidFill>
                  <a:srgbClr val="B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Obtained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A82221CD-8155-A7B6-02BD-3D3A4DDBC612}"/>
              </a:ext>
            </a:extLst>
          </p:cNvPr>
          <p:cNvSpPr txBox="1"/>
          <p:nvPr/>
        </p:nvSpPr>
        <p:spPr>
          <a:xfrm>
            <a:off x="833843" y="1677378"/>
            <a:ext cx="9627037" cy="3246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</a:lstStyle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detected LPG gas quickly during testing.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buzzer and LED turned ON when leakage was found.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exhaust fan automatically activated to reduce the gas.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Gas levels came back to normal after a few seconds.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worked correctly every time .</a:t>
            </a:r>
          </a:p>
        </p:txBody>
      </p:sp>
    </p:spTree>
    <p:extLst>
      <p:ext uri="{BB962C8B-B14F-4D97-AF65-F5344CB8AC3E}">
        <p14:creationId xmlns:p14="http://schemas.microsoft.com/office/powerpoint/2010/main" val="4105792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3685ABE-9374-4C6B-B080-0532C2C91C15}"/>
              </a:ext>
            </a:extLst>
          </p:cNvPr>
          <p:cNvSpPr>
            <a:spLocks noGrp="1"/>
          </p:cNvSpPr>
          <p:nvPr/>
        </p:nvSpPr>
        <p:spPr>
          <a:xfrm>
            <a:off x="666750" y="695325"/>
            <a:ext cx="10377665" cy="32624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ensures timely awareness.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accidents like fire or explosions.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 and reliable safety solution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households and industries.</a:t>
            </a: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61573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67684-8F5E-5DDA-A324-BC20C50C3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488950"/>
            <a:ext cx="10515600" cy="815975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and Enhancements</a:t>
            </a:r>
            <a:endParaRPr lang="en-IN" sz="36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871F9-8849-866A-9713-5E35F0CB6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025"/>
            <a:ext cx="10515600" cy="435133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Gas Shut-off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Integrating a Relay Module and a Solenoid Valve to automatically cut off the gas supply source when a leak is detected.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Notification: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Adding a GSM/Wi-Fi module (like an ESP8266 or SIM900) to send SMS or app notifications to the user's mobile phone, allowing for remote alerts and monitoring.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Optimization: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Designing the circuit for low-power consumption to enable portability and battery operation for greater deployment flexibility.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2113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7ED6DEB-7870-5A03-5682-53851891FA2E}"/>
              </a:ext>
            </a:extLst>
          </p:cNvPr>
          <p:cNvSpPr txBox="1"/>
          <p:nvPr/>
        </p:nvSpPr>
        <p:spPr>
          <a:xfrm>
            <a:off x="581025" y="1020098"/>
            <a:ext cx="10668000" cy="5586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1.R. K. Pathinarupothi, P. Durga and E. S. Rangana. IoT-Based Smart Edge for Global Health:</a:t>
            </a:r>
          </a:p>
          <a:p>
            <a:pPr algn="l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Remote Monitoring with Severity Det and Alert Transmissions vol. 6, no. 2, pp. 2449-2462, </a:t>
            </a:r>
          </a:p>
          <a:p>
            <a:pPr algn="l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April 2019.</a:t>
            </a:r>
          </a:p>
          <a:p>
            <a:pPr algn="l"/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2.Mahalingam, A., R. T. Naayagi, and N. E. Mastorakis. Design and implementation of an</a:t>
            </a:r>
          </a:p>
          <a:p>
            <a:pPr algn="l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economic gas leakage detector.pp. 20-24, 2012.</a:t>
            </a:r>
          </a:p>
          <a:p>
            <a:pPr algn="l"/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3.Attia, Hussain A., and Halah Y. Ali. Electronic Design of Liquefied Petroleum Gas Leakage</a:t>
            </a:r>
          </a:p>
          <a:p>
            <a:pPr algn="l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Monitoring, Alarm, and Protection System based on Discrete Components. vol. 11, no. 19,</a:t>
            </a:r>
          </a:p>
          <a:p>
            <a:pPr algn="l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pp. 9721-9726, 2016.</a:t>
            </a:r>
          </a:p>
          <a:p>
            <a:pPr algn="l"/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Apeh, S. T., K. B. Erameh, and U. Iruansi.Design and Development of Kitchen Gas Leakage</a:t>
            </a:r>
          </a:p>
          <a:p>
            <a:pPr algn="l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detection and Automatic Gas Shut off System. vol. 5, no. 3, pp.222-228, 2014. </a:t>
            </a:r>
          </a:p>
          <a:p>
            <a:pPr algn="l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algn="l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5.T.Soundarya, J.V. Anchitaalagammai, G. Deepa Priya, S.S. Karthick Kumar, MC-Leakage:</a:t>
            </a:r>
          </a:p>
          <a:p>
            <a:pPr algn="just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Cylinder LPG Gas Leakage Detection for Home Safety. vol. 9, no. 1, Ver. VI, pp. 53-58, Feb.     </a:t>
            </a:r>
          </a:p>
          <a:p>
            <a:pPr algn="just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2014.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6A826A-6DDA-21AC-7D14-DE6827409527}"/>
              </a:ext>
            </a:extLst>
          </p:cNvPr>
          <p:cNvSpPr txBox="1"/>
          <p:nvPr/>
        </p:nvSpPr>
        <p:spPr>
          <a:xfrm>
            <a:off x="581025" y="37376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3600" b="1" spc="-25" dirty="0">
                <a:solidFill>
                  <a:srgbClr val="B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47811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FC9A6-3558-F1F1-C938-46E8762F3C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390525"/>
            <a:ext cx="9144000" cy="661988"/>
          </a:xfrm>
        </p:spPr>
        <p:txBody>
          <a:bodyPr>
            <a:normAutofit/>
          </a:bodyPr>
          <a:lstStyle/>
          <a:p>
            <a:pPr algn="just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6BCBCF-8BF9-6766-A8BB-2FF669A03B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0575" y="1247776"/>
            <a:ext cx="10525125" cy="5095874"/>
          </a:xfrm>
        </p:spPr>
        <p:txBody>
          <a:bodyPr>
            <a:normAutofit fontScale="92500" lnSpcReduction="10000"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LPG Gas Leakage Detector using Arduino successfully detects the presence of LPG gas in the environment and provides instant alerts to prevent hazardous situations.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using the MQ-2 gas sensor, the system continuously monitors gas concentration levels and triggers a buzzer and LED alarm when leakage is detected.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how a simple, low-cost microcontroller-based system can significantly enhance safety in homes, kitchens, restaurants, and industrial areas.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proves to be an effective and reliable solution for early gas leakage detection and can be further improved by adding wireless notifications, automatic shutdown mechanisms, and IoT-based monitoring for enhanced safety and convenience</a:t>
            </a:r>
            <a:r>
              <a:rPr lang="en-US" sz="2800" dirty="0"/>
              <a:t>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62273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">
            <a:extLst>
              <a:ext uri="{FF2B5EF4-FFF2-40B4-BE49-F238E27FC236}">
                <a16:creationId xmlns:a16="http://schemas.microsoft.com/office/drawing/2014/main" id="{8C99A265-AAB2-47D8-BF3A-41E3C4F5AC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66" y="1247775"/>
            <a:ext cx="8466667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54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2334</TotalTime>
  <Words>1067</Words>
  <Application>Microsoft Office PowerPoint</Application>
  <PresentationFormat>Widescreen</PresentationFormat>
  <Paragraphs>125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Arial MT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Flow Chart</vt:lpstr>
      <vt:lpstr>PowerPoint Presentation</vt:lpstr>
      <vt:lpstr>PowerPoint Presentation</vt:lpstr>
      <vt:lpstr>PowerPoint Presentation</vt:lpstr>
      <vt:lpstr>PowerPoint Presentation</vt:lpstr>
      <vt:lpstr>Future Scope and Enhancements</vt:lpstr>
      <vt:lpstr>PowerPoint Presentation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IK</dc:creator>
  <cp:lastModifiedBy>indudharakouti07@gmail.com</cp:lastModifiedBy>
  <cp:revision>38</cp:revision>
  <dcterms:created xsi:type="dcterms:W3CDTF">2025-09-08T12:47:10Z</dcterms:created>
  <dcterms:modified xsi:type="dcterms:W3CDTF">2025-12-12T09:51:45Z</dcterms:modified>
</cp:coreProperties>
</file>